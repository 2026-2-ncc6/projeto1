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 (R$ milhões)</c:v>
                </c:pt>
              </c:strCache>
            </c:strRef>
          </c:tx>
          <c:spPr>
            <a:solidFill>
              <a:srgbClr val="1D5238"/>
            </a:solidFill>
            <a:effectLst/>
          </c:spPr>
          <c:invertIfNegative val="0"/>
          <c:dLbls>
            <c:numFmt formatCode="\R\$\ #,##0&quot; mi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15201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Pessimista
renda 30% · freq. 30%</c:v>
                </c:pt>
                <c:pt idx="1">
                  <c:v>Base
renda 50% · freq. 40%</c:v>
                </c:pt>
                <c:pt idx="2">
                  <c:v>Otimista
3 mi praticantes · renda 60%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84</c:v>
                </c:pt>
                <c:pt idx="2">
                  <c:v>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01-204D-83F9-232605B754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C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"/>
        </c:scaling>
        <c:delete val="1"/>
        <c:axPos val="l"/>
        <c:majorGridlines>
          <c:spPr>
            <a:ln w="12700" cap="flat">
              <a:solidFill>
                <a:srgbClr val="E2E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95DCC-C96E-6840-B984-4B078ED77FE1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766098-75C5-0241-AA7D-89DF878A35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284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produto é um sensor acoplável à raquete. Hoje falamos da oportunidade, não da tecnologia.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não nasce de intuição tecnológica. Por isso começamos pelo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PREENCHER data e local antes de entregar. Se a entrevista ainda não foi feita de verdade, ela precisa ser feita: o edital pede evidência de aproximação real com o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construída a partir da entrevista, não de suposição. Todas as falas entre aspas são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quadrantes, todos alimentados por respostas reais da entrevista.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que demonstra maturidade analítica. Hipótese refutada é resultado, não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não é ausência total de feedback: é ausência de feedback técnico, somada ao atrito de qualquer alternativa 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Slide-pivô. Ler em voz alta e pausar. A segunda metade da pergunta — o atrito zero — é o que diferencia de filmar.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gasto mensal do quarto card veio da entrevista e confirma a premissa que tínhamos assumido.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entrevistado validou o ticket, mas com ressalva: precisa confiar no dado antes de comprar. Isso vira requisito de acurácia.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 a pergunta da banca sobre a fragilidade das premissas.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foi falta de demanda: foi arquitetura e modelo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liga a pesquisa ao produto. É o que prova que a entrevista mudou decisões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concorrente principal não é a Sony nem a Zepp: é o hábito de não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reconhecendo o que ainda falta. Uma entrevista é um começo, não uma amostra.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entrevista aparece como fonte primária, em primeiro lugar. É o que o edital valoriza.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98480" y="5120640"/>
            <a:ext cx="2194560" cy="2194560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INTERDISCIPLINAR · 6º CCOMP · FECAP ·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Sense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600"/>
              </a:lnSpc>
            </a:pPr>
            <a:r>
              <a:rPr lang="pt-BR" dirty="0">
                <a:solidFill>
                  <a:srgbClr val="C9D6CD"/>
                </a:solidFill>
                <a:latin typeface="Calibri" pitchFamily="34" charset="0"/>
                <a:cs typeface="Calibri" pitchFamily="34" charset="-120"/>
              </a:rPr>
              <a:t>Sensor IoT para raquetes: da captura de movimento à análise de dados.</a:t>
            </a:r>
            <a:endParaRPr lang="en-US" dirty="0">
              <a:solidFill>
                <a:srgbClr val="C9D6CD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59" y="4343399"/>
            <a:ext cx="7265963" cy="45719"/>
          </a:xfrm>
          <a:prstGeom prst="rect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e Empreendedorismo — Entrega 1 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Antônio Petri · Gabriel Higobassi Paschoal · Lucas Silva Maciel · Thiago Akira Higa Mitami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chegamos ao problema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centrado no humano, estruturado em dois diamantes: divergir para entender, convergir para definir.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4206240" cy="2286000"/>
          </a:xfrm>
          <a:prstGeom prst="diamond">
            <a:avLst/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1005840" y="201168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DESCOBRIR</a:t>
            </a:r>
            <a:endParaRPr lang="en-US" sz="17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2011680"/>
            <a:ext cx="4206240" cy="2286000"/>
          </a:xfrm>
          <a:prstGeom prst="diamond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858000" y="201168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IDEAR</a:t>
            </a:r>
            <a:endParaRPr lang="en-US" sz="17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PROTOTIPAR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5956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480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em profundidade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concorrentes e literatura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79920" y="4480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· filtro pelo tripé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físico validado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539496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E8EFE6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Fomos conversar com quem joga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133A26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1737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EM PROFUNDIDADE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perguntas · ~30 minutos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060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3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em 6 blocos: rotina de treino, percepção de evolução, tentativas anteriores de medir, comparação social, gasto mensal — e só no fim a reação à solução.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583680" y="1737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ENTREVISTAMOS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848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Rafael, 32 anos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060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no setor financeiro · joga há 5 anos · 2x por semana · aula em grupo (4 alunos por professor) · gasta R$ 400–500/mês com o esporte. Entrevista realizada em 11/09/2026.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1005840" y="422452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que resume a entrevista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55371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b="1" i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“Uma das coisas mais difíceis para quem joga por hobby é saber se realmente está evoluindo. Você joga toda semana, mas às vezes parece que está sempre no mesmo lugar.”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Rafael, 32 anos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no financeiro · São Paulo · joga há 5 anos · 2x/semana · aula em grupo + jogo com amigos · R$ 400–500/mês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6012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TREINA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aula em grupo na semana (4 alunos por professor) e um jogo com amigo no fim de semana.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Começou porque um amigo do trabalho chamou. Ficou.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 torneios internos de vez em quando; está nos grupos de WhatsApp do clube.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treina sozinho: “muitas vezes simplesmente jogo”.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TENTOU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9028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Gravou o saque com o celular a pedido do professor. Parou: “dá um pouco de trabalho”.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smartwatch na corrida e na academia. No tênis, nada.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 raquete mais cara achando que melhoraria o jogo — “o problema era mais técnico do que o equipamento”.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33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58368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DIZ QUE ESTÁ TRAVADO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30428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“Meu saque. Estou praticamente no mesmo nível há mais de um ano.”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1546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sabe que evoluiu no geral — ganha de quem antes ganhava dele. Mas o saque não aparece no placar, e por isso escapa a qualquer avaliação.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4069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8EFE6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58368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QUER SABER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645152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“Velocidade do saque seria um. Também gostaria de saber quantos golpes eu dou e talvez quantos erros cometo. Às vezes tenho a sensação de que estou errando muito, mas não sei exatamente quanto.”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EMPATIZAR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empatia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quadrante usa as palavras do próprio entrevistado.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96112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 E SENTE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67128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“Seria interessante saber. Principalmente porque eu treino e queria ter alguma noção mais objetiva de que estou melhorando.”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57276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581144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167128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corrida: distância, tempo, ritmo, e o treino dos amigos. No tênis, o resultado do jogo — e nada além disso.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0144" y="157276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266176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167128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professor: que chegou atrasado na bola e abriu demais o movimento. Do grupo do clube: quem está jogando bem.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59936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896112" y="4288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E FAZ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654296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“Muitas vezes simplesmente jogo.” Gravou o saque uma vez e parou. Conta aos amigos quando ganha — nunca números.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25112" y="4059936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33A26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581144" y="4288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4654296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Saque parado há mais de um ano. Não sabe quantos golpes deu nem quantos erros cometeu. Medir dá trabalho demais.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10144" y="4059936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CBE85D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8266176" y="4288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4654296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resumo simples depois do treino: quantos golpes, de que tipo, velocidade do saque — e comparação com os treinos anteriores.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entrevista derrubou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hipóteses nossas não sobreviveram ao contato com o entrevistado. Registrá-las é parte do método.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D9DF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ACHÁVAMOS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133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3796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DISSE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914400" y="2468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tem nenhuma noção de evolução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6537960" y="2468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tem — pelo placar. “Comecei a ganhar de algumas pessoas contra quem eu perdia.” O que falta é o dado técnico, não a percepção geral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14400" y="371246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é aguda e urgente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3575304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537960" y="371246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 pouco. Não chega a ser algo que me incomode muito, mas seria interessante saber.” É latente, não urgente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914400" y="495604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quer um ranking público do clube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818888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537960" y="495604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mostrasse que eu estou muito abaixo dos outros, provavelmente eu preferiria que não fosse público.” Comparação sim, exposição não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de projeto: a comunidade entra como comparação opcional e celebratória — não como placar público de fraqueza.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3840480" cy="3840480"/>
          </a:xfrm>
          <a:prstGeom prst="ellipse">
            <a:avLst/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problema, precisamente definido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45720" cy="1325880"/>
          </a:xfrm>
          <a:prstGeom prst="rect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1051560" y="155448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praticante só enxerga o que o placar mostra — e o placar não mede técnica.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005840" y="3255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PLACAR REVELA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02736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3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sabe que evoluiu porque passou a ganhar de quem antes ganhava dele e mantém trocas de bola mais longas. É um sinal real, mas grosso: só aparece no agregado e leva meses.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30175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583680" y="3255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NÃO REVELA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602736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3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saque está parado há mais de um ano — e o saque não decide o placar sozinho. Golpes isolados, contagem de erros e velocidade não têm como emergir do resultado da partida.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413248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único caminho hoje disponível — filmar e analisar — foi abandonado pelo motivo mais banal: “dá um pouco de trabalho”.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BE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D7EE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D7EE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QUESTÃO NORTEADORA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podemos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mostrar ao praticante de tênis a evolução técnica que o placar não revela —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exigir dele nenhum esforço além de jogar?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1188720" cy="36576"/>
          </a:xfrm>
          <a:prstGeom prst="rect">
            <a:avLst/>
          </a:prstGeom>
          <a:solidFill>
            <a:srgbClr val="133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metades vêm da entrevista: o saque parado há um ano, e o “dá um pouco de trabalho” que fez ele largar o celular.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05840"/>
            <a:ext cx="3108960" cy="3108960"/>
          </a:xfrm>
          <a:prstGeom prst="ellipse">
            <a:avLst/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resposta: Swing Sense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00" y="2002536"/>
            <a:ext cx="502920" cy="502920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1440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9568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Prende na raquete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30428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com ESP32-C3 e MPU6050 fixado no punho de qualquer raquete — o praticante prende e joga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14400" y="3136392"/>
            <a:ext cx="502920" cy="502920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91440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0906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 a tacada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43814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Autômato de quatro estados identifica cada golpe pela aceleração e pelo giro, em tempo real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05072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14400" y="4270248"/>
            <a:ext cx="502920" cy="502920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91440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224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 e mede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5720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Saque, forehand ou backhand — com a força e a velocidade de cada golpe, não apenas o total</a:t>
            </a:r>
            <a:endParaRPr lang="en-US" sz="1250" dirty="0"/>
          </a:p>
        </p:txBody>
      </p:sp>
      <p:sp>
        <p:nvSpPr>
          <p:cNvPr id="32" name="Shape 32"/>
          <p:cNvSpPr/>
          <p:nvPr/>
        </p:nvSpPr>
        <p:spPr>
          <a:xfrm>
            <a:off x="640080" y="5138928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14400" y="5404104"/>
            <a:ext cx="502920" cy="502920"/>
          </a:xfrm>
          <a:prstGeom prst="ellipse">
            <a:avLst/>
          </a:prstGeom>
          <a:solidFill>
            <a:srgbClr val="133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1645920" y="53583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Mostra no app, sem trabalho nenhum</a:t>
            </a:r>
            <a:endParaRPr lang="en-US" sz="1550" dirty="0"/>
          </a:p>
        </p:txBody>
      </p:sp>
      <p:sp>
        <p:nvSpPr>
          <p:cNvPr id="30" name="Text 30"/>
          <p:cNvSpPr txBox="1"/>
          <p:nvPr/>
        </p:nvSpPr>
        <p:spPr>
          <a:xfrm>
            <a:off x="914400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10" b="1" dirty="0">
                <a:solidFill>
                  <a:srgbClr val="CBE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210" dirty="0"/>
          </a:p>
        </p:txBody>
      </p:sp>
      <p:sp>
        <p:nvSpPr>
          <p:cNvPr id="31" name="Text 31"/>
          <p:cNvSpPr txBox="1"/>
          <p:nvPr/>
        </p:nvSpPr>
        <p:spPr>
          <a:xfrm>
            <a:off x="1645920" y="570585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simples ao fim do treino: golpes por tipo, velocidade do saque e comparação com as sessões anteriores</a:t>
            </a:r>
            <a:endParaRPr lang="pt-BR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brasileiro de tênis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 mi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praticantes de tênis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CBT, 2023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01568" y="15087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3630168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3,0%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população pratica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(era 2,6% em 2019)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ITF Global Tennis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15087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391656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dos esportes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raquete desde 2022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91656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24544" y="15087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9153144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R$ 400–500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153144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mensal declarado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entrevistado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entrevista,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E8EF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960120" y="44348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 conservadora adotada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8006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2,0 milhões de praticantes (CBT) e não os ~3 milhões de "adeptos" citados pela ÁPICE, porque o segundo número mistura praticantes e entusiastas. 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TAM, SAM e SOM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adotado: R$ 299 por dispositivo. Testado na entrevista — “preço razoável se realmente funcionar bem”.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33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60120" y="18562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R$ 598 mi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3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2.000.000 praticantes × R$ 299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8595360" cy="1051560"/>
          </a:xfrm>
          <a:prstGeom prst="roundRect">
            <a:avLst>
              <a:gd name="adj" fmla="val 6957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96012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401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R$ 84 mi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264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3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280.000 adultos, com renda, treinando ≥1x/semana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05656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60120" y="4270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085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R$ 2,8 mi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4471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9.240 unidades em 3 anos (0,3% → 2,0% do SAM)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do TAM ao SAM:  adultos 18+ (70%)  →  renda compatível com acessório de R$ 299 (50%)  →  frequência mínima semanal (40%).  Os três percentuais ainda são premissas da equipe e precisam de fonte secundária.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as premissas estiverem erradas?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o SAM contra variações nas duas premissas mais frágeis — proporção de renda compatível e frequência de treino.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69164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6916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E8EFE6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800100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3774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 cenário pessimista, o mercado atingível passa de R$ 38 milhões.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é enxuta: o custo de material é de R$ 90–140 por unidade.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venda para escolinhas não está modelada — cada parceria vale ~10 unidades.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a faixa, e não um número único, é o que sustenta a estimativa sob questionamento.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mercado já existiu — e ruiu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3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2020 e 2021, toda a primeira geração de sensores de raquete saiu do mercado em cerca de 18 meses.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Babolat Play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encerradas em mar/2021;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desligado em 31/12/2021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3630168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Sony Smart</a:t>
            </a:r>
            <a:endParaRPr lang="en-US" sz="15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Tennis Sensor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encerrado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30/09/2021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63056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6391656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Zepp Tennis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autenticação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desligado; hardware inoperante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24544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153144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Tennis</a:t>
            </a:r>
            <a:endParaRPr lang="en-US" sz="15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53144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Descontinuado em 2021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(tecnologia Zepp)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E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ruíram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4315968"/>
            <a:ext cx="384048" cy="38404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4008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24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297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servidor proprietário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42976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empresa desligou o backend, o hardware intacto na mão do cliente virou peso morto.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974336"/>
            <a:ext cx="384048" cy="38404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24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956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insuficiente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495604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Zepp e Babolat entregavam só contagem total e velocidade média — nada por golpe individual.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32704"/>
            <a:ext cx="384048" cy="38404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640080" y="5632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24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614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preso a uma raquete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561441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Babolat Play embutia o sensor no cabo: trocar de raquete significava perder o produto.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entrevista exige do produto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abaixo nasceu de uma fala do entrevistado — não de suposição da equipe.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D9DF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14400" y="1719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DISSE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719072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133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37960" y="1719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QUE ISSO GERA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914400" y="241401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“Parei de filmar porque dá um pouco de trabalho”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304288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6537960" y="241401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Atrito zero: prender na raquete, jogar, ver o resumo. Nenhuma etapa manual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14400" y="34747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tiver informação demais, pode ficar inútil. Não quero 30 gráficos”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36499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537960" y="34747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simples na abertura: golpes por tipo, velocidade do saque, comparação com o treino anterior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425696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914400" y="453542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“Pensaria se o sensor é preciso e se não atrapalha o movimento”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425696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537960" y="453542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medida e publicada; peso e equilíbrio como restrição de projeto do case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ECEFEB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914400" y="559612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4A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“Preferiria que não fosse público se estivesse abaixo dos outros”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54864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537960" y="559612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opcional e por convite; nada exposto por padrão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Rafael resolve isso hoje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70992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B9C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17099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7190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importados remanescentes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66420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em dólar, sem suporte no Brasil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0487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B9C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68680" y="2651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INDIRETO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6609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em grupo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6060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alunos por professor · o feedback existe, mas é dividido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4670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68680" y="3593592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B9C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68680" y="3593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INDIRETO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6027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Filmar com o celular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5478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 — e abandonado: “dá um pouco de trabalho”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8853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68680" y="4535424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B9C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868680" y="45354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SUBSTITUTO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514600" y="45445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equipamento melhor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448970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R$ 450 no último tênis · “o problema era mais técnico do que o equipamento”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23036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33A26"/>
          </a:solidFill>
          <a:ln w="12700">
            <a:solidFill>
              <a:srgbClr val="E2E8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68680" y="547725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868680" y="54772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3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NÃO-CONSUMO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54864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Simplesmente não medir nada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54315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 — e é o concorrente mais forte de todos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contra o não-consumo exige quebrar uma premissa antes de oferecer um produto: a de que tênis não se mede.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05840"/>
            <a:ext cx="3108960" cy="3108960"/>
          </a:xfrm>
          <a:prstGeom prst="ellipse">
            <a:avLst/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BE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depois desta entrega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14400" y="2002536"/>
            <a:ext cx="502920" cy="502920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1440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9568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Ampliar a amostra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30428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4 entrevistas, com praticantes de níveis diferentes — indicação do próprio entrevistado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14400" y="3136392"/>
            <a:ext cx="502920" cy="502920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91440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0906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Fechar as fontes das premissas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43814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de adultos entre praticantes e distribuição de renda, para firmar o SAM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05072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14400" y="4270248"/>
            <a:ext cx="502920" cy="502920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91440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224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acurácia do protótipo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5720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“Pensaria se o sensor é preciso” — medir contra vídeo e publicar o número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5404104"/>
            <a:ext cx="502920" cy="502920"/>
          </a:xfrm>
          <a:prstGeom prst="ellipse">
            <a:avLst/>
          </a:prstGeom>
          <a:solidFill>
            <a:srgbClr val="133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1645920" y="53583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2 — 06/11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consultadas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527048"/>
            <a:ext cx="109728" cy="109728"/>
          </a:xfrm>
          <a:prstGeom prst="ellipse">
            <a:avLst/>
          </a:prstGeom>
          <a:solidFill>
            <a:srgbClr val="1D52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058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em profundidade com praticante amador de tênis, 32 anos. Realizada em 11 set. 2026. Dados primários.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84248"/>
            <a:ext cx="109728" cy="10972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00584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CONFEDERAÇÃO BRASILEIRA DE TÊNIS. Dados de praticantes de tênis no Brasil, 2023. Via Tenis News.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109728" cy="10972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100584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ÁPICE BRASIL. Prática de tênis cresce no Brasil após a redução no imposto de importação das raquetes.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898648"/>
            <a:ext cx="109728" cy="10972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100584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ITF. Global Tennis Report. Via Federação Paulista de Tênis.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355848"/>
            <a:ext cx="109728" cy="10972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1005840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ABIACOM. Esportes de raquete crescem no Brasil e movimentam as vendas online, 2025.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813048"/>
            <a:ext cx="109728" cy="10972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100584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AURATIDE COLLECTIVE. Which Tennis Sensors Still Work in 2026.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70248"/>
            <a:ext cx="109728" cy="10972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10058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TECHNOLOGY BLOG. A Review of Smart Tennis Sensors, 2019.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727448"/>
            <a:ext cx="109728" cy="109728"/>
          </a:xfrm>
          <a:prstGeom prst="ellipse">
            <a:avLst/>
          </a:prstGeom>
          <a:solidFill>
            <a:srgbClr val="CBE8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100584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FECAP. Projeto Interdisciplinar — Smart Tennis Arena, versão final, 6º CCOMP, 2026.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BE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D7EE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D7EE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Sense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133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o que o placar não mostra — sem exigir nada além de jogar.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5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Antônio Petri · Gabriel Higobassi Paschoal · Lucas Silva Maciel · Thiago Akira Higa Mitami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1188720" cy="36576"/>
          </a:xfrm>
          <a:prstGeom prst="rect">
            <a:avLst/>
          </a:prstGeom>
          <a:solidFill>
            <a:srgbClr val="133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e Empreendedorismo · Projeto Interdisciplinar · 6º CCOMP · FECAP ·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2182</Words>
  <Application>Microsoft Office PowerPoint</Application>
  <PresentationFormat>Widescreen</PresentationFormat>
  <Paragraphs>238</Paragraphs>
  <Slides>18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Petri de Moraes Soares de Mour</cp:lastModifiedBy>
  <cp:revision>7</cp:revision>
  <dcterms:created xsi:type="dcterms:W3CDTF">2026-09-10T22:58:11Z</dcterms:created>
  <dcterms:modified xsi:type="dcterms:W3CDTF">2026-09-13T17:20:25Z</dcterms:modified>
</cp:coreProperties>
</file>