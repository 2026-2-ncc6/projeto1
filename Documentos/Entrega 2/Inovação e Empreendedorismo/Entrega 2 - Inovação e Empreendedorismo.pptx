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7B077-3F8D-0D4F-9563-D0503C86577A}" type="datetimeFigureOut">
              <a:rPr lang="pt-BR" smtClean="0"/>
              <a:t>30/10/2026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03A3B-CDC6-AB45-A2DF-42191D18CD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31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 2. A apresentação segue o encadeamento visto em aula: forças → setor → estratégia → recursos e VCS → modelo de negócio →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coluna da esquerda dá o contexto do projeto para quem está vendo pela primeira vez: o problema, de onde veio o dado e o tamanho do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Delimitamos o setor pela função, não pela tecnologia. Causas: Babolat Play morreu de preço e produto; o POP de acurácia; a Sony por ser periférica no portfólio; a Zepp foi comprada pela Huami, que virou Zepp Health e levou a marca para smartwatches.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Fontes: estudo de validação de Edelmann-Nusser et al. (2019) no International Journal of Computer Science in Sport; caso de precificação da Babolat Play na The Case Centre; anúncio da aquisição da Zepp pela Huami em 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Preço é copiável em um dia; custo exige mudar a estrutura. Nosso custo tem piso físico, o do concorrente em software não — por isso a estratégia só pode ser diferenciação. E a vantagem da raquete não está em classificar melhor, e sim em observar o que o pulso apenas infere.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paga é o praticante. Clubes, escolinhas e professores entram como canal de indicação e parceria de dados, nunca como compradores. O relacionamento mudou por causa da entrevista: o ranking deixou de ser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legal: Lei 13.709/2018. Ressalva se perguntarem: taxas de opt-in em apps de consumo são baixas, e receita de dados exige base instalada — não é solução de primeiro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 é o que o usuário recebe; captura é o que a operação retém. A margem de contribuição é por unidade vendida, antes dos custos fixos.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1D5238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5120640"/>
            <a:ext cx="2194560" cy="2194560"/>
          </a:xfrm>
          <a:prstGeom prst="ellipse">
            <a:avLst/>
          </a:prstGeom>
          <a:solidFill>
            <a:srgbClr val="CBE8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INTERDISCIPLINAR · 6º CCOMP · FECAP ·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 Sense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acoplável à raquete que conta, classifica e mede cada golpe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setor, vantagem competitiva e modelo de negócio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005840" cy="32004"/>
          </a:xfrm>
          <a:prstGeom prst="rect">
            <a:avLst/>
          </a:prstGeom>
          <a:solidFill>
            <a:srgbClr val="CBE85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e Empreendedorismo — Entrega 2 — 06/11/2026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Antônio Petri · Gabriel Higobassi Paschoal · Lucas Silva Maciel · Thiago Akira Higa Mitami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problema observado, um mercado dimensionado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Daqui em diante, a pergunta muda: não é mais se existe oportunidade, e sim se ela é defensável.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133A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SABEMOS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3225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968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praticante amador só enxerga o que o placar mostra — e o placar não mede técnica.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621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evidência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953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em profundidade com um praticante adulto, em setembro de 2026. Três hipóteses nossas não se confirmaram.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791456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919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93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atingível de R$ 84 milhões, a R$ 299 por unidade. Projeção de 840 unidades no primeiro ano.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1600200"/>
            <a:ext cx="7040880" cy="457200"/>
          </a:xfrm>
          <a:prstGeom prst="roundRect">
            <a:avLst>
              <a:gd name="adj" fmla="val 12000"/>
            </a:avLst>
          </a:prstGeom>
          <a:solidFill>
            <a:srgbClr val="CBE85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80560" y="1600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ANALISAR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2212848"/>
            <a:ext cx="70408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359152"/>
            <a:ext cx="310896" cy="310896"/>
          </a:xfrm>
          <a:prstGeom prst="ellipse">
            <a:avLst/>
          </a:prstGeom>
          <a:solidFill>
            <a:srgbClr val="133A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0916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E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23500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forças competitivas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2951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rentabilidade a estrutura do setor permite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652760" y="235000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2871216"/>
            <a:ext cx="70408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017520"/>
            <a:ext cx="310896" cy="310896"/>
          </a:xfrm>
          <a:prstGeom prst="ellipse">
            <a:avLst/>
          </a:prstGeom>
          <a:solidFill>
            <a:srgbClr val="133A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E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008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concorrentes saíram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29535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produtos, quatro causas diferentes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652760" y="300837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3529584"/>
            <a:ext cx="70408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675888"/>
            <a:ext cx="310896" cy="310896"/>
          </a:xfrm>
          <a:prstGeom prst="ellipse">
            <a:avLst/>
          </a:prstGeom>
          <a:solidFill>
            <a:srgbClr val="133A2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0916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E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36667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e vantagem competitiva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36118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recursos que o concorrente não copia depressa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652760" y="36667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80560" y="4187952"/>
            <a:ext cx="70408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4334256"/>
            <a:ext cx="310896" cy="310896"/>
          </a:xfrm>
          <a:prstGeom prst="ellipse">
            <a:avLst/>
          </a:prstGeom>
          <a:solidFill>
            <a:srgbClr val="133A2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091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E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43251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0" y="42702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empresa se organiza para entregar a proposta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0652760" y="432511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80560" y="4846320"/>
            <a:ext cx="70408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4992624"/>
            <a:ext cx="310896" cy="310896"/>
          </a:xfrm>
          <a:prstGeom prst="ellipse">
            <a:avLst/>
          </a:prstGeom>
          <a:solidFill>
            <a:srgbClr val="133A2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709160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E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166360" y="49834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conformidade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138160" y="49286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base permite, e sob que regras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0652760" y="49834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80560" y="5504688"/>
            <a:ext cx="7040880" cy="603504"/>
          </a:xfrm>
          <a:prstGeom prst="roundRect">
            <a:avLst>
              <a:gd name="adj" fmla="val 12121"/>
            </a:avLst>
          </a:prstGeom>
          <a:solidFill>
            <a:srgbClr val="E8EFE6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5650992"/>
            <a:ext cx="310896" cy="310896"/>
          </a:xfrm>
          <a:prstGeom prst="ellipse">
            <a:avLst/>
          </a:prstGeom>
          <a:solidFill>
            <a:srgbClr val="133A2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09160" y="5650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E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5166360" y="56418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 captura de valor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138160" y="55869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cliente recebe e o que a operação retém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0652760" y="564184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0080" y="6263640"/>
            <a:ext cx="10881360" cy="411480"/>
          </a:xfrm>
          <a:prstGeom prst="roundRect">
            <a:avLst>
              <a:gd name="adj" fmla="val 13333"/>
            </a:avLst>
          </a:prstGeom>
          <a:solidFill>
            <a:srgbClr val="E8EFE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60120" y="62636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não é arbitrária: são as cinco forças que dizem onde a defesa precisa estar, e é essa resposta que o modelo de negócio tem de executar.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forças definem a rentabilidade do setor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Atratividade estrutural baixa a moderada: três das cinco forças são desfavoráveis.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7465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 de entrada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C25B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17373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69164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genéricos e sem patente: um desenvolvedor sozinho já entrou sem usar hardware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4780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de substitutos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246888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C25B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24688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4231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relógio resolve parte do problema — e não medir nada custa zero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035808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2095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barganha dos clientes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320040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C25B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89120" y="32004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15468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latente: ele pode adiar a compra para sempre sem perder nada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67328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9410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Rivalidade entre concorrentes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89120" y="393192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B9C7B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0" y="39319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388620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por abandono, não por proteção — e abandono é alerta, não oportunidade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498848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46725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barganha dos fornecedores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89120" y="466344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B9C7B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389120" y="46634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461772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prateleira, vários fornecedores. Risco restrito a câmbio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230368"/>
            <a:ext cx="6949440" cy="1325880"/>
          </a:xfrm>
          <a:prstGeom prst="roundRect">
            <a:avLst>
              <a:gd name="adj" fmla="val 5517"/>
            </a:avLst>
          </a:prstGeom>
          <a:solidFill>
            <a:srgbClr val="133A2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" y="53949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EVIDÊNCIA QUE DEFINE AS DUAS PRIMEIRAS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669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AI, na loja Connect IQ da Garmin: reconhece quatro tipos de golpe só com o acelerômetro do relógio. Sem hardware, por US$ 10 — e o nosso entrevistado já tem o relógio.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18120" y="5230368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CBE85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92440" y="5230368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forças mais intensas são a mesma ameaça: o relógio que o praticante já tem no pulso.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 ADVERSÁRIO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cada concorrente saiu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que "entraram e saíram" é raso. Cada um saiu por um motivo diferente, e os motivos não são intercambiáveis.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92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Babolat Play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810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mar/2021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12140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C25B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MORREU DE PREÇO E DE PRODUTO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6888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raquete conectada, com sensor embutido no cabo. Custava cerca de £340 contra £170 da Pure Drive comum — o dobro, pela mesma raquete. Validação acadêmica de 2019 apontou erro acima de 10% na contagem de forehands em jogo.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186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i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o dobro por uma função que erra em jogo não é problema de mercado.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792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Babolat POP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1810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pulseira, até 2021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212140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C25B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MORREU DE ACURÁCIA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46888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estudo de validação é lapidar: o POP "não atingiu acurácia aceitável de forma alguma". Foi o pior dos sistemas testados.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2186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i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no pulso sem calibração por usuário não produziu dado confiável.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941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Sony Smart Tennis Sensor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39593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set/2021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27024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C25B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MORREU DE PORTFÓLIO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61772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Tecnicamente o melhor: 8 gramas, análise de vibração para estimar o ponto de impacto nas cordas, aprovado pela ITF para competição. Encerrado quando a Sony saiu de categorias periféricas de hardware.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3675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i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competente morre quando é periférico para quem o fabrica. Para nós é o negócio inteiro.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7947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941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Zepp e HEAD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39593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~2020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427024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C25B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MORREU DE AQUISIÇÃO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61772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Huami comprou os ativos da Zepp em 2018. Em 2021 a própria Huami passou a se chamar Zepp Health e levou a marca para os relógios Amazfit. O HEAD Sensor era powered by Zepp e morreu junto.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53675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i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concorrente não desapareceu: mudou de camada — virou software de smartwatch.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6035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CBE85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0120" y="60350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saiu por falta de demanda. Saíram por preço, por acurácia, por prioridade de portfólio e por aquisição — quatro causas que sabemos nomear e, em três delas, evitar.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E RECURSOS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a vantagem competitiva sustentável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setor de barreiras baixas, a vantagem não pode estar naquilo que qualquer um copia em pouco tempo.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D9D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64208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SUSTENTA VANTAGEM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664208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133A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664208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QUE SUSTENTAM A VANTAGEM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1284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340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hardware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6517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 e sensor inercial são replicáveis por qualquer equipe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pioneirismo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9136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não é novo: já foi explorado por Sony, Babolat e Zepp — e abandonado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736592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864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17550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8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é decisão; custo é posição. O nosso tem piso físico de R$ 90–140 por unidade. Software num relógio já comprado tem custo marginal quase zero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212848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230428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implemento, não o braço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5603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classificar o golpe, pulso e raquete empatam: 93,4% contra 92,5%. A diferença está no que só o quadro registra — impacto nas cordas e velocidade da cabeça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328416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4198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rotulada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6758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golpe gravado junto com a etiqueta do que ele foi. Acumula com o uso e não se compra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224528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43159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indicação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57200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 e professores indicam; quem compra é o praticante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512064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52120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 sem servidor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54681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anteriores morreram quando as fabricantes desligaram os servidores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605332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CBE85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" y="60533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genérica adotada: diferenciação com enfoque. Liderança em custo está fora do nosso alcance — e sabemos exatamente por quê.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338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centro, a proposta de valor. À direita dela, tudo que olha para o cliente; à esquerda, tudo que olha para a operação. Embaixo, o que sai e o que entra de dinheiro.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167128" cy="402336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12700">
            <a:solidFill>
              <a:srgbClr val="D8E0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8191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PRINCIPAIS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47088"/>
            <a:ext cx="19293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Clubes, escolinhas e academias — canal e campo de dados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e treinadores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Montador de eletrônica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FECAP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Smart Tennis Arena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1481328"/>
            <a:ext cx="216712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E0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158191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ATIVIDADES-CHAVE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862072" y="1847088"/>
            <a:ext cx="192938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e aprimorar o classificador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e montagem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 backend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institucional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dados e conformidade com a LGPD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3538728"/>
            <a:ext cx="216712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E0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62072" y="363931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PRINCIPAIS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862072" y="3904488"/>
            <a:ext cx="192938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classificação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rotulada — ativo técnico e comercial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e backend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credibilidade técnica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83480" y="1481328"/>
            <a:ext cx="2167128" cy="4023360"/>
          </a:xfrm>
          <a:prstGeom prst="roundRect">
            <a:avLst>
              <a:gd name="adj" fmla="val 2110"/>
            </a:avLst>
          </a:prstGeom>
          <a:solidFill>
            <a:srgbClr val="133A26"/>
          </a:solidFill>
          <a:ln w="12700">
            <a:solidFill>
              <a:srgbClr val="133A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02352" y="158191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102352" y="1847088"/>
            <a:ext cx="19293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 evolução técnica que o placar não revela, sem exigir esforço além de jogar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Medimos o implemento, não o braço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Resumo deliberadamente simples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 sem servidor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clubes e professores que indicam: visibilidade do treino que acontece fora da aula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1481328"/>
            <a:ext cx="216712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E0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42632" y="158191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342632" y="1847088"/>
            <a:ext cx="192938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Autoatendimento pelo app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opcional e por convite — nada público por padrão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granular e revogável no próprio app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em português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23760" y="3538728"/>
            <a:ext cx="2167128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E0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363931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904488"/>
            <a:ext cx="192938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direta online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Clubes, escolinhas e academias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por professores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especializadas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64040" y="1481328"/>
            <a:ext cx="2167128" cy="4023360"/>
          </a:xfrm>
          <a:prstGeom prst="roundRect">
            <a:avLst>
              <a:gd name="adj" fmla="val 2110"/>
            </a:avLst>
          </a:prstGeom>
          <a:solidFill>
            <a:srgbClr val="CBE85D"/>
          </a:solidFill>
          <a:ln w="12700">
            <a:solidFill>
              <a:srgbClr val="CBE8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2912" y="158191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582912" y="1847088"/>
            <a:ext cx="19293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PAGA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praticante adulto amador, 25–45 anos, prática semanal. Compra para si.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INDICA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Clubes, escolinhas, academias, professores e treinadores — são canal e parceria, não compradores.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5614416"/>
            <a:ext cx="552754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0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5715000"/>
            <a:ext cx="5289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CUSTOS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5980176"/>
            <a:ext cx="52898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R$ 90–140 por unidade  ·  Montagem e embalagem R$ 25 por unidade  ·  Desenvolvimento de software  ·  Infraestrutura de nuvem  ·  Aquisição de clientes  ·  Suporte e atendimento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03620" y="5614416"/>
            <a:ext cx="552754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0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22492" y="5715000"/>
            <a:ext cx="5289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222492" y="5980176"/>
            <a:ext cx="52898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do dispositivo R$ 299, em pagamento único — a receita principal  ·  Assinatura opcional de R$ 19,90/mês  ·  Inteligência agregada e anonimizada para clubes e fabricantes  ·  Ofertas de parceiros por opt-in  ·  Margem de contribuição: 37% no canal direto, 22% em marketplace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base de dados permite — e sob que regras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rotulada é o único recurso que se acumula com o uso. Tratá-la só como insumo técnico é desperdiçar o ativo.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133A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6420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USOS, DO MAIS SEGURO AO MAIS SENSÍVEL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40880" y="1664208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D9D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0" y="166420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LGPD EXIGE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542032"/>
            <a:ext cx="310896" cy="310896"/>
          </a:xfrm>
          <a:prstGeom prst="ellipse">
            <a:avLst/>
          </a:prstGeom>
          <a:solidFill>
            <a:srgbClr val="CBE8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3591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o classificador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62432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primário, dentro da relação contratual. Não exige consentimento adicional além da informação clara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227832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529584"/>
            <a:ext cx="310896" cy="310896"/>
          </a:xfrm>
          <a:prstGeom prst="ellipse">
            <a:avLst/>
          </a:prstGeom>
          <a:solidFill>
            <a:srgbClr val="CBE85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467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agregada e anonimizada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6118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por região, nível e faixa etária, com valor para clubes, fabricantes e federações. Dado anonimizado sai do escopo da lei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215384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517136"/>
            <a:ext cx="310896" cy="310896"/>
          </a:xfrm>
          <a:prstGeom prst="ellipse">
            <a:avLst/>
          </a:prstGeom>
          <a:solidFill>
            <a:srgbClr val="CBE85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3342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de parceiros por opt-in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59943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Encordoamento quando o volume de golpes indica desgaste; clínica quando o histórico mostra estagnação; torneio compatível com o nível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202936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5504688"/>
            <a:ext cx="310896" cy="310896"/>
          </a:xfrm>
          <a:prstGeom prst="ellipse">
            <a:avLst/>
          </a:prstGeom>
          <a:solidFill>
            <a:srgbClr val="CBE85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5504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3218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derivados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58698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treino personalizado e relatório para o professor, este com consentimento do aluno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0" y="2240280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0" y="2331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específico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25694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genérica é nula. Cada finalidade exige seu próprio opt-in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3026664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0" y="31181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 informada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33558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precisa saber para que serve cada marcação, antes da coleta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3813048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0" y="39044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Anonimização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315200" y="41422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verdadeiramente anonimizado deixa de ser dado pessoal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4599432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0" y="4690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Revogação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315200" y="4928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o consentimento tem de ser tão fácil quanto dá-lo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5385816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3E3D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315200" y="5477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315200" y="5696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7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risco de lesão transforma o dado esportivo em dado de saúde, com exigência reforçada.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626364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CBE85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0120" y="6263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entrevista já dizia que o usuário não quer exposição; a lei exige consentimento específico. Opt-in não é só conformidade — é o que a pesquisa de campo pedia.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e captura de valor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133A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299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golpe contado e classificado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04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placar nunca mostrou: volume, tipo e intensidade de cada tacada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017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visível entre treinos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as sessões anteriores, sem o praticante registrar nada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0050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Atrito zero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793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Prende na raquete e joga. Foi o excesso de trabalho que fez ele largar a filmagem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3E3D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566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 registrada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303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entrevista apontou o saque como o golpe travado. O MVP hoje classifica forehand e backhand — reincorporar o saque é decisão pendente.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325880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CBE85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13258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VALOR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9202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R$ 110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596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na venda direta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871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sobre R$ 299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0" y="19202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897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2596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em marketplace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2871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— estreita para garantia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4290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33A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361188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CONTRIBUIÇÃO NO PRIMEIRO ANO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38587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R$ 92.400</a:t>
            </a:r>
            <a:endParaRPr lang="en-US" sz="25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4297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 unidades projetadas × R$ 110, considerando venda pelo canal direto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9377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E8EFE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37960" y="5074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paga é o praticante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53400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 e professores indicam, não compram. No médio prazo a base instalada gera uma segunda receita: inteligência agregada e anonimizada, sempre por opt-in.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margem de contribuição cobre o custo variável de cada unidade, mas ainda não remunera o desenvolvimento de software nem a infraestrutura — em operação real, esses custos precisariam ser amortizados.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BE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D7EE7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D7EE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 Sense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Antônio Petri · Gabriel Higobassi Paschoal · Lucas Silva Maciel · Thiago Akira Higa Mitami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1188720" cy="36576"/>
          </a:xfrm>
          <a:prstGeom prst="rect">
            <a:avLst/>
          </a:prstGeom>
          <a:solidFill>
            <a:srgbClr val="133A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e Empreendedorismo · Projeto Interdisciplinar · 6º CCOMP · FECAP ·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2136</Words>
  <Application>Microsoft Office PowerPoint</Application>
  <PresentationFormat>Widescreen</PresentationFormat>
  <Paragraphs>246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Thiago Akira Higa Mitami</cp:lastModifiedBy>
  <cp:revision>2</cp:revision>
  <dcterms:created xsi:type="dcterms:W3CDTF">2026-10-30T00:47:12Z</dcterms:created>
  <dcterms:modified xsi:type="dcterms:W3CDTF">2026-10-30T23:16:12Z</dcterms:modified>
</cp:coreProperties>
</file>