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 /><Relationship Id="rId2" Type="http://schemas.openxmlformats.org/package/2006/relationships/metadata/core-properties" Target="docProps/core.xml" /><Relationship Id="rId1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viewProps" Target="viewProps.xml" /><Relationship Id="rId3" Type="http://schemas.openxmlformats.org/officeDocument/2006/relationships/slide" Target="slides/slide2.xml" /><Relationship Id="rId7" Type="http://schemas.openxmlformats.org/officeDocument/2006/relationships/slide" Target="slides/slide6.xml" /><Relationship Id="rId12" Type="http://schemas.openxmlformats.org/officeDocument/2006/relationships/presProps" Target="presProps.xml" /><Relationship Id="rId2" Type="http://schemas.openxmlformats.org/officeDocument/2006/relationships/slide" Target="slides/slide1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notesMaster" Target="notesMasters/notesMaster1.xml" /><Relationship Id="rId5" Type="http://schemas.openxmlformats.org/officeDocument/2006/relationships/slide" Target="slides/slide4.xml" /><Relationship Id="rId15" Type="http://schemas.openxmlformats.org/officeDocument/2006/relationships/tableStyles" Target="tableStyles.xml" /><Relationship Id="rId10" Type="http://schemas.openxmlformats.org/officeDocument/2006/relationships/slide" Target="slides/slide9.xml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A7B077-3F8D-0D4F-9563-D0503C86577A}" type="datetimeFigureOut">
              <a:rPr lang="pt-BR" smtClean="0"/>
              <a:t>29/10/2026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F03A3B-CDC6-AB45-A2DF-42191D18CDE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063162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 /><Relationship Id="rId1" Type="http://schemas.openxmlformats.org/officeDocument/2006/relationships/notesMaster" Target="../notesMasters/notesMaster1.xml" 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Entrega 2. A apresentação segue o encadeamento visto em aula: forças → setor → estratégia → recursos e VCS → modelo de negócio → valor.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coluna da esquerda dá o contexto do projeto para quem está vendo pela primeira vez: o problema, de onde veio o dado e o tamanho do mercado.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Delimitamos o setor pela função, não pela tecnologia. Causas: Babolat Play morreu de preço e produto; o POP de acurácia; a Sony por ser periférica no portfólio; a Zepp foi comprada pela Huami, que virou Zepp Health e levou a marca para smartwatches.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Fontes: estudo de validação de Edelmann-Nusser et al. (2019) no International Journal of Computer Science in Sport; caso de precificação da Babolat Play na The Case Centre; anúncio da aquisição da Zepp pela Huami em 2018.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Preço é copiável em um dia; custo exige mudar a estrutura. Nosso custo tem piso físico, o do concorrente em software não — por isso a estratégia só pode ser diferenciação. E a vantagem da raquete não está em classificar melhor, e sim em observar o que o pulso apenas infere.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paga é o praticante. Clubes, escolinhas e professores entram como canal de indicação e parceria de dados, nunca como compradores. O relacionamento mudou por causa da entrevista: o ranking deixou de ser público.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legal: Lei 13.709/2018. Ressalva se perguntarem: taxas de opt-in em apps de consumo são baixas, e receita de dados exige base instalada — não é solução de primeiro 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Entrega é o que o usuário recebe; captura é o que a operação retém. A margem de contribuição é por unidade vendida, antes dos custos fixos.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 /><Relationship Id="rId1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 /><Relationship Id="rId1" Type="http://schemas.openxmlformats.org/officeDocument/2006/relationships/slideLayout" Target="../slideLayouts/slideLayout1.xml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 /><Relationship Id="rId1" Type="http://schemas.openxmlformats.org/officeDocument/2006/relationships/slideLayout" Target="../slideLayouts/slideLayout1.xml" 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 /><Relationship Id="rId1" Type="http://schemas.openxmlformats.org/officeDocument/2006/relationships/slideLayout" Target="../slideLayouts/slideLayout1.xml" 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 /><Relationship Id="rId1" Type="http://schemas.openxmlformats.org/officeDocument/2006/relationships/slideLayout" Target="../slideLayouts/slideLayout1.xml" 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 /><Relationship Id="rId1" Type="http://schemas.openxmlformats.org/officeDocument/2006/relationships/slideLayout" Target="../slideLayouts/slideLayout1.xml" 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 /><Relationship Id="rId1" Type="http://schemas.openxmlformats.org/officeDocument/2006/relationships/slideLayout" Target="../slideLayouts/slideLayout1.xml" 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 /><Relationship Id="rId1" Type="http://schemas.openxmlformats.org/officeDocument/2006/relationships/slideLayout" Target="../slideLayouts/slideLayout1.xml" 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 /><Relationship Id="rId1" Type="http://schemas.openxmlformats.org/officeDocument/2006/relationships/slideLayout" Target="../slideLayouts/slideLayout1.xml" 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 /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3A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280160"/>
            <a:ext cx="4754880" cy="4754880"/>
          </a:xfrm>
          <a:prstGeom prst="ellipse">
            <a:avLst/>
          </a:prstGeom>
          <a:solidFill>
            <a:srgbClr val="1D5238"/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0" y="5120640"/>
            <a:ext cx="2194560" cy="2194560"/>
          </a:xfrm>
          <a:prstGeom prst="ellipse">
            <a:avLst/>
          </a:prstGeom>
          <a:solidFill>
            <a:srgbClr val="CBE85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BE8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INTERDISCIPLINAR · 6º CCOMP · FECAP · 2026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Swing Sense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6324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600"/>
              </a:lnSpc>
              <a:buNone/>
            </a:pPr>
            <a:r>
              <a:rPr lang="en-US" sz="1800" dirty="0">
                <a:solidFill>
                  <a:srgbClr val="C9D6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acoplável à raquete que conta, classifica e mede cada golpe</a:t>
            </a:r>
            <a:endParaRPr lang="en-US" sz="18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800" dirty="0">
                <a:solidFill>
                  <a:srgbClr val="C9D6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do setor, vantagem competitiva e modelo de negócio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4343400"/>
            <a:ext cx="1005840" cy="32004"/>
          </a:xfrm>
          <a:prstGeom prst="rect">
            <a:avLst/>
          </a:prstGeom>
          <a:solidFill>
            <a:srgbClr val="CBE85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BE8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Inovação e Empreendedorismo — Entrega 2 — 06/11/2026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983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9B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Antônio Petri · Gabriel Higobassi Paschoal · Lucas Silva Maciel · Thiago Akira Higa Mitami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D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PARTIDA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problema observado, um mercado dimensionado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8872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Daqui em diante, a pergunta muda: não é mais se existe oportunidade, e sim se ela é defensável.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133A2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6002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20" dirty="0">
                <a:solidFill>
                  <a:srgbClr val="CBE8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JÁ SABEMOS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194560"/>
            <a:ext cx="352044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32257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596896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praticante amador só enxerga o que o placar mostra — e o placar não mede técnica.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493008"/>
            <a:ext cx="352044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362102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evidência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89534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 em profundidade com um praticante adulto, em setembro de 2026. Três hipóteses nossas não se confirmaram.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791456"/>
            <a:ext cx="352044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49194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519379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atingível de R$ 84 milhões, a R$ 299 por unidade. Projeção de 840 unidades no primeiro ano.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0" y="1600200"/>
            <a:ext cx="7040880" cy="457200"/>
          </a:xfrm>
          <a:prstGeom prst="roundRect">
            <a:avLst>
              <a:gd name="adj" fmla="val 12000"/>
            </a:avLst>
          </a:prstGeom>
          <a:solidFill>
            <a:srgbClr val="CBE85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480560" y="160020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20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VAMOS ANALISAR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480560" y="2212848"/>
            <a:ext cx="70408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09160" y="2359152"/>
            <a:ext cx="310896" cy="310896"/>
          </a:xfrm>
          <a:prstGeom prst="ellipse">
            <a:avLst/>
          </a:prstGeom>
          <a:solidFill>
            <a:srgbClr val="133A2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709160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BE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166360" y="23500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forças competitivas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138160" y="2295144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Quanta rentabilidade a estrutura do setor permite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10652760" y="235000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D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480560" y="2871216"/>
            <a:ext cx="70408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09160" y="3017520"/>
            <a:ext cx="310896" cy="310896"/>
          </a:xfrm>
          <a:prstGeom prst="ellipse">
            <a:avLst/>
          </a:prstGeom>
          <a:solidFill>
            <a:srgbClr val="133A2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09160" y="3017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BE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166360" y="300837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os concorrentes saíram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138160" y="2953512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produtos, quatro causas diferentes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0652760" y="300837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D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480560" y="3529584"/>
            <a:ext cx="70408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709160" y="3675888"/>
            <a:ext cx="310896" cy="310896"/>
          </a:xfrm>
          <a:prstGeom prst="ellipse">
            <a:avLst/>
          </a:prstGeom>
          <a:solidFill>
            <a:srgbClr val="133A2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709160" y="3675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BE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166360" y="366674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e vantagem competitiva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138160" y="361188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recursos que o concorrente não copia depressa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0652760" y="366674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D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480560" y="4187952"/>
            <a:ext cx="70408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09160" y="4334256"/>
            <a:ext cx="310896" cy="310896"/>
          </a:xfrm>
          <a:prstGeom prst="ellipse">
            <a:avLst/>
          </a:prstGeom>
          <a:solidFill>
            <a:srgbClr val="133A2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091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BE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5166360" y="432511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negócio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8138160" y="4270248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empresa se organiza para entregar a proposta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10652760" y="432511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D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480560" y="4846320"/>
            <a:ext cx="70408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09160" y="4992624"/>
            <a:ext cx="310896" cy="310896"/>
          </a:xfrm>
          <a:prstGeom prst="ellipse">
            <a:avLst/>
          </a:prstGeom>
          <a:solidFill>
            <a:srgbClr val="133A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709160" y="49926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BE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5166360" y="498348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e conformidade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8138160" y="4928616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base permite, e sob que regras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10652760" y="498348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D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480560" y="5504688"/>
            <a:ext cx="7040880" cy="603504"/>
          </a:xfrm>
          <a:prstGeom prst="roundRect">
            <a:avLst>
              <a:gd name="adj" fmla="val 12121"/>
            </a:avLst>
          </a:prstGeom>
          <a:solidFill>
            <a:srgbClr val="E8EFE6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709160" y="5650992"/>
            <a:ext cx="310896" cy="310896"/>
          </a:xfrm>
          <a:prstGeom prst="ellipse">
            <a:avLst/>
          </a:prstGeom>
          <a:solidFill>
            <a:srgbClr val="133A2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09160" y="5650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BE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5166360" y="564184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e captura de valor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8138160" y="5586984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cliente recebe e o que a operação retém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10652760" y="564184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D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640080" y="6263640"/>
            <a:ext cx="10881360" cy="411480"/>
          </a:xfrm>
          <a:prstGeom prst="roundRect">
            <a:avLst>
              <a:gd name="adj" fmla="val 13333"/>
            </a:avLst>
          </a:prstGeom>
          <a:solidFill>
            <a:srgbClr val="E8EFE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960120" y="626364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ordem não é arbitrária: são as cinco forças que dizem onde a defesa precisa estar, e é essa resposta que o modelo de negócio tem de executar.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D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cinco forças definem a rentabilidade do setor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8872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Atratividade estrutural baixa a moderada: três das cinco forças são desfavoráveis.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572768"/>
            <a:ext cx="1088136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746504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Barreiras de entrada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89120" y="1737360"/>
            <a:ext cx="1143000" cy="347472"/>
          </a:xfrm>
          <a:prstGeom prst="roundRect">
            <a:avLst>
              <a:gd name="adj" fmla="val 15789"/>
            </a:avLst>
          </a:prstGeom>
          <a:solidFill>
            <a:srgbClr val="C25B3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389120" y="1737360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1691640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genéricos e sem patente: um desenvolvedor sozinho já entrou sem usar hardware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304288"/>
            <a:ext cx="1088136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2478024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Ameaça de substitutos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89120" y="2468880"/>
            <a:ext cx="1143000" cy="347472"/>
          </a:xfrm>
          <a:prstGeom prst="roundRect">
            <a:avLst>
              <a:gd name="adj" fmla="val 15789"/>
            </a:avLst>
          </a:prstGeom>
          <a:solidFill>
            <a:srgbClr val="C25B3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89120" y="2468880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2423160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relógio resolve parte do problema — e não medir nada custa zero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035808"/>
            <a:ext cx="1088136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3209544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de barganha dos clientes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89120" y="3200400"/>
            <a:ext cx="1143000" cy="347472"/>
          </a:xfrm>
          <a:prstGeom prst="roundRect">
            <a:avLst>
              <a:gd name="adj" fmla="val 15789"/>
            </a:avLst>
          </a:prstGeom>
          <a:solidFill>
            <a:srgbClr val="C25B3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389120" y="3200400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760720" y="3154680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 latente: ele pode adiar a compra para sempre sem perder nada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3767328"/>
            <a:ext cx="1088136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0120" y="3941064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Rivalidade entre concorrentes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389120" y="3931920"/>
            <a:ext cx="1143000" cy="347472"/>
          </a:xfrm>
          <a:prstGeom prst="roundRect">
            <a:avLst>
              <a:gd name="adj" fmla="val 15789"/>
            </a:avLst>
          </a:prstGeom>
          <a:solidFill>
            <a:srgbClr val="B9C7B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389120" y="3931920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760720" y="3886200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 por abandono, não por proteção — e abandono é alerta, não oportunidade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4498848"/>
            <a:ext cx="1088136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0120" y="4672584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de barganha dos fornecedores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389120" y="4663440"/>
            <a:ext cx="1143000" cy="347472"/>
          </a:xfrm>
          <a:prstGeom prst="roundRect">
            <a:avLst>
              <a:gd name="adj" fmla="val 15789"/>
            </a:avLst>
          </a:prstGeom>
          <a:solidFill>
            <a:srgbClr val="B9C7B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389120" y="4663440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760720" y="4617720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de prateleira, vários fornecedores. Risco restrito a câmbio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230368"/>
            <a:ext cx="6949440" cy="1325880"/>
          </a:xfrm>
          <a:prstGeom prst="roundRect">
            <a:avLst>
              <a:gd name="adj" fmla="val 5517"/>
            </a:avLst>
          </a:prstGeom>
          <a:solidFill>
            <a:srgbClr val="133A2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60120" y="539496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CBE8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EVIDÊNCIA QUE DEFINE AS DUAS PRIMEIRAS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60120" y="56692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Tennis AI, na loja Connect IQ da Garmin: reconhece quatro tipos de golpe só com o acelerômetro do relógio. Sem hardware, por US$ 10 — e o nosso entrevistado já tem o relógio.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818120" y="5230368"/>
            <a:ext cx="3703320" cy="1325880"/>
          </a:xfrm>
          <a:prstGeom prst="roundRect">
            <a:avLst>
              <a:gd name="adj" fmla="val 5517"/>
            </a:avLst>
          </a:prstGeom>
          <a:solidFill>
            <a:srgbClr val="CBE85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92440" y="5230368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forças mais intensas são a mesma ameaça: o relógio que o praticante já tem no pulso.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D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O ADVERSÁRIO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cada concorrente saiu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8872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Dizer que "entraram e saíram" é raso. Cada um saiu por um motivo diferente, e os motivos não são intercambiáveis.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52578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79222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3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Babolat Play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023360" y="181051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mar/2021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2121408"/>
            <a:ext cx="2286000" cy="274320"/>
          </a:xfrm>
          <a:prstGeom prst="roundRect">
            <a:avLst>
              <a:gd name="adj" fmla="val 20000"/>
            </a:avLst>
          </a:prstGeom>
          <a:solidFill>
            <a:srgbClr val="C25B3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21214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MORREU DE PREÇO E DE PRODUTO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468880"/>
            <a:ext cx="4709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0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raquete conectada, com sensor embutido no cabo. Custava cerca de £340 contra £170 da Pure Drive comum — o dobro, pela mesma raquete. Validação acadêmica de 2019 apontou erro acima de 10% na contagem de forehands em jogo.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21868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b="1" i="1" dirty="0">
                <a:solidFill>
                  <a:srgbClr val="1D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Cobrar o dobro por uma função que erra em jogo não é problema de mercado.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0" y="1645920"/>
            <a:ext cx="52578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179222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3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Babolat POP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0" y="181051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pulseira, até 2021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92240" y="2121408"/>
            <a:ext cx="2286000" cy="274320"/>
          </a:xfrm>
          <a:prstGeom prst="roundRect">
            <a:avLst>
              <a:gd name="adj" fmla="val 20000"/>
            </a:avLst>
          </a:prstGeom>
          <a:solidFill>
            <a:srgbClr val="C25B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92240" y="21214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MORREU DE ACURÁCIA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2468880"/>
            <a:ext cx="4709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0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estudo de validação é lapidar: o POP "não atingiu acurácia aceitável de forma alguma". Foi o pior dos sistemas testados.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21868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b="1" i="1" dirty="0">
                <a:solidFill>
                  <a:srgbClr val="1D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no pulso sem calibração por usuário não produziu dado confiável.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3794760"/>
            <a:ext cx="52578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39410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3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Sony Smart Tennis Sensor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023360" y="395935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2014 – set/2021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14400" y="4270248"/>
            <a:ext cx="2286000" cy="274320"/>
          </a:xfrm>
          <a:prstGeom prst="roundRect">
            <a:avLst>
              <a:gd name="adj" fmla="val 20000"/>
            </a:avLst>
          </a:prstGeom>
          <a:solidFill>
            <a:srgbClr val="C25B3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4400" y="42702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MORREU DE PORTFÓLIO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4617720"/>
            <a:ext cx="4709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0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Tecnicamente o melhor: 8 gramas, análise de vibração para estimar o ponto de impacto nas cordas, aprovado pela ITF para competição. Encerrado quando a Sony saiu de categorias periféricas de hardware.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536752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b="1" i="1" dirty="0">
                <a:solidFill>
                  <a:srgbClr val="1D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 competente morre quando é periférico para quem o fabrica. Para nós é o negócio inteiro.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17920" y="3794760"/>
            <a:ext cx="52578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92240" y="39410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3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Zepp e HEAD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601200" y="395935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~2020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92240" y="4270248"/>
            <a:ext cx="2286000" cy="274320"/>
          </a:xfrm>
          <a:prstGeom prst="roundRect">
            <a:avLst>
              <a:gd name="adj" fmla="val 20000"/>
            </a:avLst>
          </a:prstGeom>
          <a:solidFill>
            <a:srgbClr val="C25B3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492240" y="42702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MORREU DE AQUISIÇÃO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4617720"/>
            <a:ext cx="4709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0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Huami comprou os ativos da Zepp em 2018. Em 2021 a própria Huami passou a se chamar Zepp Health e levou a marca para os relógios Amazfit. O HEAD Sensor era powered by Zepp e morreu junto.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536752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b="1" i="1" dirty="0">
                <a:solidFill>
                  <a:srgbClr val="1D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concorrente não desapareceu: mudou de camada — virou software de smartwatch.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6035040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CBE85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60120" y="603504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saiu por falta de demanda. Saíram por preço, por acurácia, por prioridade de portfólio e por aquisição — quatro causas que sabemos nomear e, em três delas, evitar.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D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E RECURSOS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está a vantagem competitiva sustentável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8872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 setor de barreiras baixas, a vantagem não pode estar naquilo que qualquer um copia em pouco tempo.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664208"/>
            <a:ext cx="5257800" cy="438912"/>
          </a:xfrm>
          <a:prstGeom prst="roundRect">
            <a:avLst>
              <a:gd name="adj" fmla="val 12500"/>
            </a:avLst>
          </a:prstGeom>
          <a:solidFill>
            <a:srgbClr val="D9DFD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664208"/>
            <a:ext cx="5257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SUSTENTA VANTAGEM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263640" y="1664208"/>
            <a:ext cx="5257800" cy="438912"/>
          </a:xfrm>
          <a:prstGeom prst="roundRect">
            <a:avLst>
              <a:gd name="adj" fmla="val 12500"/>
            </a:avLst>
          </a:prstGeom>
          <a:solidFill>
            <a:srgbClr val="133A2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1664208"/>
            <a:ext cx="5257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CBE8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QUE SUSTENTAM A VANTAGEM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212848"/>
            <a:ext cx="5257800" cy="1170432"/>
          </a:xfrm>
          <a:prstGeom prst="roundRect">
            <a:avLst>
              <a:gd name="adj" fmla="val 6250"/>
            </a:avLst>
          </a:prstGeom>
          <a:solidFill>
            <a:srgbClr val="ECEFEB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3408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hardware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65176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85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Microcontrolador e sensor inercial são replicáveis por qualquer equipe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474720"/>
            <a:ext cx="5257800" cy="1170432"/>
          </a:xfrm>
          <a:prstGeom prst="roundRect">
            <a:avLst>
              <a:gd name="adj" fmla="val 6250"/>
            </a:avLst>
          </a:prstGeom>
          <a:solidFill>
            <a:srgbClr val="ECEFEB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360273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pioneirismo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913632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85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não é novo: já foi explorado por Sony, Babolat e Zepp — e abandonado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4736592"/>
            <a:ext cx="5257800" cy="1170432"/>
          </a:xfrm>
          <a:prstGeom prst="roundRect">
            <a:avLst>
              <a:gd name="adj" fmla="val 6250"/>
            </a:avLst>
          </a:prstGeom>
          <a:solidFill>
            <a:srgbClr val="ECEFEB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8646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custo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5175504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85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é decisão; custo é posição. O nosso tem piso físico de R$ 90–140 por unidade. Software num relógio já comprado tem custo marginal quase zero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2212848"/>
            <a:ext cx="5257800" cy="104241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37960" y="230428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o implemento, não o braço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560320"/>
            <a:ext cx="4754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classificar o golpe, pulso e raquete empatam: 93,4% contra 92,5%. A diferença está no que só o quadro registra — impacto nas cordas e velocidade da cabeça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63640" y="3328416"/>
            <a:ext cx="52578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37960" y="341985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dados rotulada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537960" y="3675888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golpe gravado junto com a etiqueta do que ele foi. Acumula com o uso e não se compra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63640" y="4224528"/>
            <a:ext cx="52578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37960" y="431596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de indicação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537960" y="4572000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Clubes e professores indicam; quem compra é o praticante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63640" y="5120640"/>
            <a:ext cx="52578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37960" y="521208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Funcionar sem servidor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37960" y="5468112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anteriores morreram quando as fabricantes desligaram os servidores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0080" y="6053328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CBE85D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60120" y="6053328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genérica adotada: diferenciação com enfoque. Liderança em custo está fora do nosso alcance — e sabemos exatamente por quê.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D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NEGÓCIO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Model Canvas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338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centro, a proposta de valor. À direita dela, tudo que olha para o cliente; à esquerda, tudo que olha para a operação. Embaixo, o que sai e o que entra de dinheiro.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2167128" cy="4023360"/>
          </a:xfrm>
          <a:prstGeom prst="roundRect">
            <a:avLst>
              <a:gd name="adj" fmla="val 2110"/>
            </a:avLst>
          </a:prstGeom>
          <a:solidFill>
            <a:srgbClr val="FFFFFF"/>
          </a:solidFill>
          <a:ln w="12700">
            <a:solidFill>
              <a:srgbClr val="D8E0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581912"/>
            <a:ext cx="1929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80" dirty="0">
                <a:solidFill>
                  <a:srgbClr val="1D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PARCERIAS PRINCIPAIS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847088"/>
            <a:ext cx="1929384" cy="354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Clubes, escolinhas e academias — canal e campo de dados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Professores e treinadores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Montador de eletrônica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FECAP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Smart Tennis Arena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743200" y="1481328"/>
            <a:ext cx="2167128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8E0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62072" y="1581912"/>
            <a:ext cx="1929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80" dirty="0">
                <a:solidFill>
                  <a:srgbClr val="1D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ATIVIDADES-CHAVE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2862072" y="1847088"/>
            <a:ext cx="19293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Calibrar e aprimorar o classificador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e montagem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e backend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Relacionamento institucional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 de dados e conformidade com a LGPD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0" y="3538728"/>
            <a:ext cx="2167128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8E0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62072" y="3639312"/>
            <a:ext cx="1929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80" dirty="0">
                <a:solidFill>
                  <a:srgbClr val="1D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PRINCIPAIS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2862072" y="3904488"/>
            <a:ext cx="19293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de classificação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dados rotulada — ativo técnico e comercial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Aplicativo e backend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e credibilidade técnica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983480" y="1481328"/>
            <a:ext cx="2167128" cy="4023360"/>
          </a:xfrm>
          <a:prstGeom prst="roundRect">
            <a:avLst>
              <a:gd name="adj" fmla="val 2110"/>
            </a:avLst>
          </a:prstGeom>
          <a:solidFill>
            <a:srgbClr val="133A26"/>
          </a:solidFill>
          <a:ln w="12700">
            <a:solidFill>
              <a:srgbClr val="133A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02352" y="1581912"/>
            <a:ext cx="1929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80" dirty="0">
                <a:solidFill>
                  <a:srgbClr val="CBE8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DE VALOR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5102352" y="1847088"/>
            <a:ext cx="1929384" cy="354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Mostrar a evolução técnica que o placar não revela, sem exigir esforço além de jogar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Medimos o implemento, não o braço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Resumo deliberadamente simples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Funciona sem servidor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clubes e professores que indicam: visibilidade do treino que acontece fora da aula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223760" y="1481328"/>
            <a:ext cx="2167128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8E0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42632" y="1581912"/>
            <a:ext cx="1929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80" dirty="0">
                <a:solidFill>
                  <a:srgbClr val="1D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RELACIONAMENTO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7342632" y="1847088"/>
            <a:ext cx="19293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Autoatendimento pelo app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opcional e por convite — nada público por padrão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Consentimento granular e revogável no próprio app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em português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223760" y="3538728"/>
            <a:ext cx="2167128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8E0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42632" y="3639312"/>
            <a:ext cx="1929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80" dirty="0">
                <a:solidFill>
                  <a:srgbClr val="1D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CANAIS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7342632" y="3904488"/>
            <a:ext cx="19293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 direta online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Clubes, escolinhas e academias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Indicação por professores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Lojas especializadas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9464040" y="1481328"/>
            <a:ext cx="2167128" cy="4023360"/>
          </a:xfrm>
          <a:prstGeom prst="roundRect">
            <a:avLst>
              <a:gd name="adj" fmla="val 2110"/>
            </a:avLst>
          </a:prstGeom>
          <a:solidFill>
            <a:srgbClr val="CBE85D"/>
          </a:solidFill>
          <a:ln w="12700">
            <a:solidFill>
              <a:srgbClr val="CBE85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1581912"/>
            <a:ext cx="1929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80" dirty="0">
                <a:solidFill>
                  <a:srgbClr val="1D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SEGMENTOS DE CLIENTES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9582912" y="1847088"/>
            <a:ext cx="1929384" cy="354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PAGA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praticante adulto amador, 25–45 anos, prática semanal. Compra para si.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INDICA</a:t>
            </a:r>
            <a:endParaRPr lang="en-US" sz="950" dirty="0"/>
          </a:p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Clubes, escolinhas, academias, professores e treinadores — são canal e parceria, não compradores.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02920" y="5614416"/>
            <a:ext cx="5527548" cy="1005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8E0D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1792" y="5715000"/>
            <a:ext cx="52898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80" dirty="0">
                <a:solidFill>
                  <a:srgbClr val="1D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DE CUSTOS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" y="5980176"/>
            <a:ext cx="52898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 R$ 90–140 por unidade  ·  Montagem e embalagem R$ 25 por unidade  ·  Desenvolvimento de software  ·  Infraestrutura de nuvem  ·  Aquisição de clientes  ·  Suporte e atendimento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103620" y="5614416"/>
            <a:ext cx="5527548" cy="1005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8E0D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22492" y="5715000"/>
            <a:ext cx="52898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80" dirty="0">
                <a:solidFill>
                  <a:srgbClr val="1D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DE RECEITA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222492" y="5980176"/>
            <a:ext cx="52898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 do dispositivo R$ 299, em pagamento único — a receita principal  ·  Assinatura opcional de R$ 19,90/mês  ·  Inteligência agregada e anonimizada para clubes e fabricantes  ·  Ofertas de parceiros por opt-in  ·  Margem de contribuição: 37% no canal direto, 22% em marketplace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D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base de dados permite — e sob que regras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8872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rotulada é o único recurso que se acumula com o uso. Tratá-la só como insumo técnico é desperdiçar o ativo.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664208"/>
            <a:ext cx="6035040" cy="438912"/>
          </a:xfrm>
          <a:prstGeom prst="roundRect">
            <a:avLst>
              <a:gd name="adj" fmla="val 12500"/>
            </a:avLst>
          </a:prstGeom>
          <a:solidFill>
            <a:srgbClr val="133A2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664208"/>
            <a:ext cx="6035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CBE8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USOS, DO MAIS SEGURO AO MAIS SENSÍVEL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040880" y="1664208"/>
            <a:ext cx="4480560" cy="438912"/>
          </a:xfrm>
          <a:prstGeom prst="roundRect">
            <a:avLst>
              <a:gd name="adj" fmla="val 12500"/>
            </a:avLst>
          </a:prstGeom>
          <a:solidFill>
            <a:srgbClr val="D9DFD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40880" y="1664208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LGPD EXIGE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240280"/>
            <a:ext cx="6035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2542032"/>
            <a:ext cx="310896" cy="310896"/>
          </a:xfrm>
          <a:prstGeom prst="ellipse">
            <a:avLst/>
          </a:prstGeom>
          <a:solidFill>
            <a:srgbClr val="CBE85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33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35915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Melhorar o classificador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62432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primário, dentro da relação contratual. Não exige consentimento adicional além da informação clara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227832"/>
            <a:ext cx="6035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" y="3529584"/>
            <a:ext cx="310896" cy="310896"/>
          </a:xfrm>
          <a:prstGeom prst="ellipse">
            <a:avLst/>
          </a:prstGeom>
          <a:solidFill>
            <a:srgbClr val="CBE85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96112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33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34670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Inteligência agregada e anonimizada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61188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Padrões por região, nível e faixa etária, com valor para clubes, fabricantes e federações. Dado anonimizado sai do escopo da lei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4215384"/>
            <a:ext cx="6035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6112" y="4517136"/>
            <a:ext cx="310896" cy="310896"/>
          </a:xfrm>
          <a:prstGeom prst="ellipse">
            <a:avLst/>
          </a:prstGeom>
          <a:solidFill>
            <a:srgbClr val="CBE85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96112" y="4517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33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433425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Ofertas de parceiros por opt-in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459943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Encordoamento quando o volume de golpes indica desgaste; clínica quando o histórico mostra estagnação; torneio compatível com o nível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202936"/>
            <a:ext cx="6035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96112" y="5504688"/>
            <a:ext cx="310896" cy="310896"/>
          </a:xfrm>
          <a:prstGeom prst="ellipse">
            <a:avLst/>
          </a:prstGeom>
          <a:solidFill>
            <a:srgbClr val="CBE85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96112" y="5504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33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532180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Produtos derivados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371600" y="5586984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treino personalizado e relatório para o professor, este com consentimento do aluno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040880" y="2240280"/>
            <a:ext cx="4480560" cy="713232"/>
          </a:xfrm>
          <a:prstGeom prst="roundRect">
            <a:avLst>
              <a:gd name="adj" fmla="val 10256"/>
            </a:avLst>
          </a:prstGeom>
          <a:solidFill>
            <a:srgbClr val="ECEFEB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15200" y="233172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Consentimento específico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315200" y="256946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Autorização genérica é nula. Cada finalidade exige seu próprio opt-in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040880" y="3026664"/>
            <a:ext cx="4480560" cy="713232"/>
          </a:xfrm>
          <a:prstGeom prst="roundRect">
            <a:avLst>
              <a:gd name="adj" fmla="val 10256"/>
            </a:avLst>
          </a:prstGeom>
          <a:solidFill>
            <a:srgbClr val="ECEFEB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0" y="311810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Finalidade informada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7315200" y="335584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usuário precisa saber para que serve cada marcação, antes da coleta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040880" y="3813048"/>
            <a:ext cx="4480560" cy="713232"/>
          </a:xfrm>
          <a:prstGeom prst="roundRect">
            <a:avLst>
              <a:gd name="adj" fmla="val 10256"/>
            </a:avLst>
          </a:prstGeom>
          <a:solidFill>
            <a:srgbClr val="ECEFEB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15200" y="390448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Anonimização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7315200" y="4142232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verdadeiramente anonimizado deixa de ser dado pessoal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040880" y="4599432"/>
            <a:ext cx="4480560" cy="713232"/>
          </a:xfrm>
          <a:prstGeom prst="roundRect">
            <a:avLst>
              <a:gd name="adj" fmla="val 10256"/>
            </a:avLst>
          </a:prstGeom>
          <a:solidFill>
            <a:srgbClr val="ECEFEB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315200" y="469087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Revogação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7315200" y="4928616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Retirar o consentimento tem de ser tão fácil quanto dá-lo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040880" y="5385816"/>
            <a:ext cx="4480560" cy="777240"/>
          </a:xfrm>
          <a:prstGeom prst="roundRect">
            <a:avLst>
              <a:gd name="adj" fmla="val 9412"/>
            </a:avLst>
          </a:prstGeom>
          <a:solidFill>
            <a:srgbClr val="F3E3DC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7315200" y="547725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25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7315200" y="569671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7A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Derivar risco de lesão transforma o dado esportivo em dado de saúde, com exigência reforçada.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40080" y="6263640"/>
            <a:ext cx="10881360" cy="457200"/>
          </a:xfrm>
          <a:prstGeom prst="roundRect">
            <a:avLst>
              <a:gd name="adj" fmla="val 16000"/>
            </a:avLst>
          </a:prstGeom>
          <a:solidFill>
            <a:srgbClr val="CBE85D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60120" y="62636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entrevista já dizia que o usuário não quer exposição; a lei exige consentimento específico. Opt-in não é só conformidade — é o que a pesquisa de campo pedia.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D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 e captura de valor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5257800" cy="457200"/>
          </a:xfrm>
          <a:prstGeom prst="roundRect">
            <a:avLst>
              <a:gd name="adj" fmla="val 12000"/>
            </a:avLst>
          </a:prstGeom>
          <a:solidFill>
            <a:srgbClr val="133A2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50" dirty="0">
                <a:solidFill>
                  <a:srgbClr val="CBE8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DE VALOR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5257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02996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golpe contado e classificado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30428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placar nunca mostrou: volume, tipo e intensidade de cada tacada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907792"/>
            <a:ext cx="5257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01752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Evolução visível entre treinos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291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com as sessões anteriores, sem o praticante registrar nada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895344"/>
            <a:ext cx="5257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400507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Atrito zero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27939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Prende na raquete e joga. Foi o excesso de trabalho que fez ele largar a filmagem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937760"/>
            <a:ext cx="5257800" cy="914400"/>
          </a:xfrm>
          <a:prstGeom prst="roundRect">
            <a:avLst>
              <a:gd name="adj" fmla="val 8000"/>
            </a:avLst>
          </a:prstGeom>
          <a:solidFill>
            <a:srgbClr val="F3E3D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505663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25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Ressalva registrada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5303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entrevista apontou o saque como o golpe travado. O MVP hoje classifica forehand e backhand — reincorporar o saque é decisão pendente.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325880"/>
            <a:ext cx="5257800" cy="457200"/>
          </a:xfrm>
          <a:prstGeom prst="roundRect">
            <a:avLst>
              <a:gd name="adj" fmla="val 12000"/>
            </a:avLst>
          </a:prstGeom>
          <a:solidFill>
            <a:srgbClr val="CBE85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63640" y="132588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50" dirty="0">
                <a:solidFill>
                  <a:srgbClr val="133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DE VALOR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63640" y="192024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92240" y="21031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5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R$ 110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259689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margem na venda direta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287121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37% sobre R$ 299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961120" y="192024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89720" y="21031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5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R$ 65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9189720" y="259689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margem em marketplace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189720" y="287121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— estreita para garantia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63640" y="3429000"/>
            <a:ext cx="5257800" cy="1325880"/>
          </a:xfrm>
          <a:prstGeom prst="roundRect">
            <a:avLst>
              <a:gd name="adj" fmla="val 5517"/>
            </a:avLst>
          </a:prstGeom>
          <a:solidFill>
            <a:srgbClr val="133A2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37960" y="3611880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20" dirty="0">
                <a:solidFill>
                  <a:srgbClr val="CBE8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MARGEM DE CONTRIBUIÇÃO NO PRIMEIRO ANO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6537960" y="3858768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R$ 92.400</a:t>
            </a:r>
            <a:endParaRPr lang="en-US" sz="2500" dirty="0"/>
          </a:p>
        </p:txBody>
      </p:sp>
      <p:sp>
        <p:nvSpPr>
          <p:cNvPr id="31" name="Text 29"/>
          <p:cNvSpPr txBox="1"/>
          <p:nvPr/>
        </p:nvSpPr>
        <p:spPr>
          <a:xfrm>
            <a:off x="6537960" y="429768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840 unidades projetadas × R$ 110, considerando venda pelo canal direto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263640" y="4937760"/>
            <a:ext cx="5257800" cy="914400"/>
          </a:xfrm>
          <a:prstGeom prst="roundRect">
            <a:avLst>
              <a:gd name="adj" fmla="val 8000"/>
            </a:avLst>
          </a:prstGeom>
          <a:solidFill>
            <a:srgbClr val="E8EFE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37960" y="507492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3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paga é o praticante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537960" y="5340096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Clubes e professores indicam, não compram. No médio prazo a base instalada gera uma segunda receita: inteligência agregada e anonimizada, sempre por opt-in.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59893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E7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margem de contribuição cobre o custo variável de cada unidade, mas ainda não remunera o desenvolvimento de software nem a infraestrutura — em operação real, esses custos precisariam ser amortizados.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BE8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645920"/>
            <a:ext cx="4572000" cy="4572000"/>
          </a:xfrm>
          <a:prstGeom prst="ellipse">
            <a:avLst/>
          </a:prstGeom>
          <a:solidFill>
            <a:srgbClr val="D7EE7E"/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4846320"/>
            <a:ext cx="3291840" cy="3291840"/>
          </a:xfrm>
          <a:prstGeom prst="ellipse">
            <a:avLst/>
          </a:prstGeom>
          <a:solidFill>
            <a:srgbClr val="D7EE7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7830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1D5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Swing Sense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133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6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886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D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Antônio Petri · Gabriel Higobassi Paschoal · Lucas Silva Maciel · Thiago Akira Higa Mitami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663440"/>
            <a:ext cx="1188720" cy="36576"/>
          </a:xfrm>
          <a:prstGeom prst="rect">
            <a:avLst/>
          </a:prstGeom>
          <a:solidFill>
            <a:srgbClr val="133A2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892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Inovação e Empreendedorismo · Projeto Interdisciplinar · 6º CCOMP · FECAP · 2026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9</Slides>
  <Notes>9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0" baseType="lpstr"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Antonio Petri de Moraes Soares de Mour</cp:lastModifiedBy>
  <cp:revision>2</cp:revision>
  <dcterms:created xsi:type="dcterms:W3CDTF">2026-10-30T00:47:12Z</dcterms:created>
  <dcterms:modified xsi:type="dcterms:W3CDTF">2026-10-30T02:04:21Z</dcterms:modified>
</cp:coreProperties>
</file>